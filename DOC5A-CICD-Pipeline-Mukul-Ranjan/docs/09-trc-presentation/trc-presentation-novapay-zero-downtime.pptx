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NovaPay Zero-Downtime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FA9F5"/>
                </a:solidFill>
              </a:defRPr>
            </a:pPr>
            <a:r>
              <a:t>NovaPay</a:t>
            </a:r>
          </a:p>
          <a:p>
            <a:pPr>
              <a:defRPr sz="3800" b="1">
                <a:solidFill>
                  <a:srgbClr val="EBF1F8"/>
                </a:solidFill>
              </a:defRPr>
            </a:pPr>
            <a:r>
              <a:t>Zero-Downtime CI/CD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971800"/>
            <a:ext cx="2834640" cy="73152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F1F8"/>
                </a:solidFill>
              </a:defRPr>
            </a:pPr>
            <a:r>
              <a:t>TRC Decision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971800"/>
            <a:ext cx="2834640" cy="7315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F1F8"/>
                </a:solidFill>
              </a:defRPr>
            </a:pPr>
            <a:r>
              <a:t>20-slide maximum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9712" y="2971800"/>
            <a:ext cx="2834640" cy="73152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F1F8"/>
                </a:solidFill>
              </a:defRPr>
            </a:pPr>
            <a:r>
              <a:t>Banking / Regulated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Production-grade CI/CD for a regulated banking platform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Decision requested: approve the target architecture, controls and phased rollout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Assessment basis: Zero-Downtime CI/CD Pipeline Assessment | 20-slide maximum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1. Executive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2/20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Approve a four-environment GitOps delivery model: dev → staging → pre-prod → production.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Approve an eight-stage DevSecOps pipeline with blocking security/compliance gates.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Approve Istio-based blue-green traffic switching plus progressive canary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Approve expand–migrate–contract database migration with backward compatibility.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Approve automated rollback for critical SLO breaches; production promotion remains dual-approved.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Business outcome: move from manual, high-risk releases to auditable, repeatable and reversible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2. Current State — Why Change Is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Manual SSH deployments; no CI/CD control plane and weak change traceability.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3 production incidents in Q4 2025 were traced to untested code deployments.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Deployment frequency: once every 2 weeks.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MTTR: 4.5 hours; assessment target: &lt;15 minutes.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17 outstanding RBI audit non-conformances and no automated compliance scanning.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Database changes performed manually in 2 AM maintenance windows.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Zero observability: incidents are detected by customers rather than systems.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Risk conclusion: velocity, availability, auditability and change safety are all constrained.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3. Target State &amp; 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4/20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BF1F8"/>
                </a:solidFill>
              </a:defRPr>
            </a:pPr>
            <a:r>
              <a:t>99.999%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B2C5"/>
                </a:solidFill>
              </a:defRPr>
            </a:pPr>
            <a:r>
              <a:t>Availability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51460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BF1F8"/>
                </a:solidFill>
              </a:defRPr>
            </a:pPr>
            <a:r>
              <a:t>&lt;2h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7860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B2C5"/>
                </a:solidFill>
              </a:defRPr>
            </a:pPr>
            <a:r>
              <a:t>Commit → Prod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251460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BF1F8"/>
                </a:solidFill>
              </a:defRPr>
            </a:pPr>
            <a:r>
              <a:t>&lt;5%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7860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B2C5"/>
                </a:solidFill>
              </a:defRPr>
            </a:pPr>
            <a:r>
              <a:t>Change 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234440"/>
            <a:ext cx="251460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EBF1F8"/>
                </a:solidFill>
              </a:defRPr>
            </a:pPr>
            <a:r>
              <a:t>&lt;15m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7860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B2C5"/>
                </a:solidFill>
              </a:defRPr>
            </a:pPr>
            <a:r>
              <a:t>Recovery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Five-nines availability objective: 99.999%.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Commit-to-production: &lt;2 hours overall project target; pipeline lead-time target &lt;1 hour.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Deployment frequency: multiple production deployments/day.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Change failure rate: &lt;5%; assessment DORA scorecard target.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Recovery: automated rollback in seconds for Category A; &lt;15 min operational target.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Security: critical findings block release; signed immutable artifacts only.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Compliance: 6+ automated gates with thresholds, evidence and time-bound exceptions.</a:t>
            </a:r>
          </a:p>
          <a:p>
            <a:pPr>
              <a:spcAft>
                <a:spcPts val="800"/>
              </a:spcAft>
              <a:defRPr sz="1400">
                <a:solidFill>
                  <a:srgbClr val="EBF1F8"/>
                </a:solidFill>
              </a:defRPr>
            </a:pPr>
            <a:r>
              <a:t>• Principle: same artifact across environments; configuration changes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4. Solution Architecture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5/20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GitHub Enterprise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CI/CD</a:t>
            </a:r>
            <a:br/>
            <a:r>
              <a:t>8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JFrog</a:t>
            </a:r>
            <a:br/>
            <a:r>
              <a:t>Artifactory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Argo CD</a:t>
            </a:r>
            <a:br/>
            <a:r>
              <a:t>GitOps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Kubernetes</a:t>
            </a:r>
            <a:br/>
            <a:r>
              <a:t>Managed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143000"/>
            <a:ext cx="1600200" cy="10515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Istio</a:t>
            </a:r>
            <a:br/>
            <a:r>
              <a:t>Traffic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664208"/>
            <a:ext cx="32004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1664208"/>
            <a:ext cx="320039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1664208"/>
            <a:ext cx="32004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1664208"/>
            <a:ext cx="32004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2640" y="1664208"/>
            <a:ext cx="32004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2971800"/>
            <a:ext cx="214884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PostgreSQL 16</a:t>
            </a:r>
            <a:br/>
            <a:r>
              <a:t>+ pgBouncer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971800"/>
            <a:ext cx="214884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Redis 7 Cluster</a:t>
            </a:r>
            <a:br/>
            <a:r>
              <a:t>Sessions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971800"/>
            <a:ext cx="214884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RabbitMQ 3.13</a:t>
            </a:r>
            <a:br/>
            <a:r>
              <a:t>Async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971800"/>
            <a:ext cx="214884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Prometheus/Grafana</a:t>
            </a:r>
            <a:br/>
            <a:r>
              <a:t>OTel/Loki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GitHub Enterprise → CI/CD → JFrog Artifactory → Argo CD → Kubernetes/EKS.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Istio provides mTLS, weighted traffic routing and blue-green/canary control.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Shared state: PostgreSQL 16 + pgBouncer, Redis 7 cluster, RabbitMQ 3.13.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Observability: Prometheus/Grafana metrics, OpenTelemetry traces, Loki logs.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Security controls: SonarQube, Trivy, OWASP ZAP, OPA/Kyverno, signed images.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Terraform provisions cloud infrastructure; Helm packages the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5. Eight Canonical Pipeline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6/20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1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56232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2 Build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0672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0984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3 SAST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35424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45736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4 Scan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6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0488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5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24928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6 DAST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9992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7 Policy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14432" y="164592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24744" y="123444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8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514600"/>
            <a:ext cx="283464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Blocking quality gates</a:t>
            </a:r>
            <a:br/>
            <a:r>
              <a:t>Coverage • SAST • CVE • DAST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514600"/>
            <a:ext cx="283464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Compliance gates</a:t>
            </a:r>
            <a:br/>
            <a:r>
              <a:t>OPA/Kyverno • SoD • provenance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514600"/>
            <a:ext cx="283464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Deployment verification</a:t>
            </a:r>
            <a:br/>
            <a:r>
              <a:t>Smoke • SLO • 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94760"/>
            <a:ext cx="10972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1 Source &amp; Trigger — protected branches, signed commits, PR review.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2 Build &amp; Compile — reproducible build, unit tests, coverage ≥80% line / ≥70% branch.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3 SAST — SonarQube: 0 Critical, ≤2 High, technical debt ≤5% for new code.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4 Dependency &amp; Container — Trivy/Grype, SBOM, Critical CVE = block; CVSS ≥9 = block.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5 Integration &amp; Contract — Pact, ephemeral namespaces, DB/API compatibility.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6 DAST — authenticated OWASP ZAP; 0 Critical/High from OWASP Top 10.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7 Policy &amp; Compliance — OPA/Kyverno, image provenance, SoD, RBI/PCI checks.</a:t>
            </a:r>
          </a:p>
          <a:p>
            <a:pPr>
              <a:spcAft>
                <a:spcPts val="800"/>
              </a:spcAft>
              <a:defRPr sz="1150">
                <a:solidFill>
                  <a:srgbClr val="EBF1F8"/>
                </a:solidFill>
              </a:defRPr>
            </a:pPr>
            <a:r>
              <a:t>• 8 Deploy &amp; Verify — blue-green/canary, smoke/synthetic checks, automated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6. Artifact Supply Chain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Version every artifact with SemVer + Git SHA + build timestamp + CI run ID.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Never use 'latest' in production.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Build once; promote the same immutable image through all four environments.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Sign container images with Cosign/Notary; admission policy rejects unsigned images.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JFrog Artifactory is the controlled registry for container images and Helm charts.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Evidence chain: commit → workflow run → scan results → signed artifact → Argo CD sync →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7. Environment Promotion &amp; 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8/20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Dev: automatic after merge; synthetic/mock data; fast feedback.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Staging: integration, DAST and performance testing; anonymized production-like data.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Pre-prod: UAT, compliance and production-scale validation; manual approval.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Production: real traffic; SRE + Release Manager dual approval; no mandatory gate bypass.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Argo CD continuously compares Git desired state with cluster state and self-heals where enabled.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Secrets are injected from Vault/AWS Secrets Manager; never stored in Git, Helm values or manifests.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Feature flags support progressive enablement: 1% → 10% → 50% → 100%.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8. Blue-Green Zero-Downtime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9/20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2860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BF1F8"/>
                </a:solidFill>
              </a:defRPr>
            </a:pPr>
            <a:r>
              <a:t>Istio Gateway</a:t>
            </a:r>
            <a:br/>
            <a:r>
              <a:t>VirtualService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1691640"/>
            <a:ext cx="91440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005840"/>
            <a:ext cx="246888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F1F8"/>
                </a:solidFill>
              </a:defRPr>
            </a:pPr>
            <a:r>
              <a:t>BLUE</a:t>
            </a:r>
            <a:br/>
            <a:r>
              <a:t>100% active</a:t>
            </a:r>
            <a:br/>
            <a:r>
              <a:t>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063240"/>
            <a:ext cx="2468880" cy="132588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F1F8"/>
                </a:solidFill>
              </a:defRPr>
            </a:pPr>
            <a:r>
              <a:t>GREEN</a:t>
            </a:r>
            <a:br/>
            <a:r>
              <a:t>0% → candidate</a:t>
            </a:r>
            <a:br/>
            <a:r>
              <a:t>New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234440"/>
            <a:ext cx="333756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Shared PostgreSQL</a:t>
            </a:r>
            <a:br/>
            <a:r>
              <a:t>Backward-compatible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423160"/>
            <a:ext cx="333756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Redis Cluster</a:t>
            </a:r>
            <a:br/>
            <a:r>
              <a:t>Session continuity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611880"/>
            <a:ext cx="333756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Payment drain +</a:t>
            </a:r>
            <a:br/>
            <a:r>
              <a:t>connection draining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Maintain two production-capable colors: Blue (active) and Green (candidate).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Deploy and validate the candidate before switching traffic.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Istio VirtualService changes traffic atomically between color subsets.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Connection draining: stop new connections, finish in-flight requests, then terminate old pods.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Payment jobs receive a configurable drain window (up to 5 minutes in the assessment model).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Redis keeps sessions distributed across the switch; PostgreSQL is shared and must remain backward compatible.</a:t>
            </a:r>
          </a:p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Rollback = route traffic back to the previous healthy color; old environment is retained until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9. Canary Strategy &amp; Statistical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42316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BF1F8"/>
                </a:solidFill>
              </a:defRPr>
            </a:pPr>
            <a:r>
              <a:t>1–2%</a:t>
            </a:r>
            <a:br/>
            <a:r>
              <a:t>15m</a:t>
            </a:r>
            <a:br/>
            <a:r>
              <a:t>&lt;0.1% err</a:t>
            </a:r>
            <a:br/>
            <a:r>
              <a:t>&lt;200ms p99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828800"/>
            <a:ext cx="41148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7560" y="1188720"/>
            <a:ext cx="242316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BF1F8"/>
                </a:solidFill>
              </a:defRPr>
            </a:pPr>
            <a:r>
              <a:t>5–10%</a:t>
            </a:r>
            <a:br/>
            <a:r>
              <a:t>30m</a:t>
            </a:r>
            <a:br/>
            <a:r>
              <a:t>&lt;0.05% err</a:t>
            </a:r>
            <a:br/>
            <a:r>
              <a:t>no critical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1828800"/>
            <a:ext cx="41148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1188720"/>
            <a:ext cx="242316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BF1F8"/>
                </a:solidFill>
              </a:defRPr>
            </a:pPr>
            <a:r>
              <a:t>25–50%</a:t>
            </a:r>
            <a:br/>
            <a:r>
              <a:t>60m</a:t>
            </a:r>
            <a:br/>
            <a:r>
              <a:t>SLOs met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1828800"/>
            <a:ext cx="41148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06840" y="1188720"/>
            <a:ext cx="242316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BF1F8"/>
                </a:solidFill>
              </a:defRPr>
            </a:pPr>
            <a:r>
              <a:t>100%</a:t>
            </a:r>
            <a:br/>
            <a:r>
              <a:t>24h</a:t>
            </a:r>
            <a:br/>
            <a:r>
              <a:t>Full bake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566160"/>
            <a:ext cx="365760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BF1F8"/>
                </a:solidFill>
              </a:defRPr>
            </a:pPr>
            <a:r>
              <a:t>Welch’s t-test</a:t>
            </a:r>
            <a:br/>
            <a:r>
              <a:t>Latency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3657600" cy="96012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BF1F8"/>
                </a:solidFill>
              </a:defRPr>
            </a:pPr>
            <a:r>
              <a:t>Chi-squared</a:t>
            </a:r>
            <a:br/>
            <a:r>
              <a:t>Error-rate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Use 95% confidence for automated promotion and a rolling 7-day production baseline.</a:t>
            </a:r>
          </a:p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Any failed criterion pauses promotion and invokes rollback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10. Zero-Downtime Database &amp; Transaction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11/20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10896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BF1F8"/>
                </a:solidFill>
              </a:defRPr>
            </a:pPr>
            <a:r>
              <a:t>EXPAND</a:t>
            </a:r>
            <a:br/>
            <a:r>
              <a:t>Backward-compatible schema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1901952"/>
            <a:ext cx="640081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325880"/>
            <a:ext cx="310896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BF1F8"/>
                </a:solidFill>
              </a:defRPr>
            </a:pPr>
            <a:r>
              <a:t>MIGRATE</a:t>
            </a:r>
            <a:br/>
            <a:r>
              <a:t>Idempotent throttled backfill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79" y="1901952"/>
            <a:ext cx="64008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38159" y="1325880"/>
            <a:ext cx="310896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BF1F8"/>
                </a:solidFill>
              </a:defRPr>
            </a:pPr>
            <a:r>
              <a:t>CONTRACT</a:t>
            </a:r>
            <a:br/>
            <a:r>
              <a:t>Separate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246120"/>
            <a:ext cx="2743200" cy="86868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App V(N−1)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246120"/>
            <a:ext cx="2743200" cy="86868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Shared DB</a:t>
            </a:r>
            <a:br/>
            <a:r>
              <a:t>Both versions 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46120"/>
            <a:ext cx="2743200" cy="86868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App V(N)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Abort migration automatically if query latency impact exceeds 20% (assessment threshold).</a:t>
            </a:r>
          </a:p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pgBouncer protects connection management; pool exhaustion is a critical rollback signal.</a:t>
            </a:r>
          </a:p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RabbitMQ supports asynchronous work; long-running payment jobs are drained before termination.</a:t>
            </a:r>
          </a:p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Compatibility rule: both old and new application versions must safely operate during migration.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11. Compliance Gate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12/20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SAST</a:t>
            </a:r>
            <a:br/>
            <a:r>
              <a:t>0 C / ≤2 H / ≥80%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DAST</a:t>
            </a:r>
            <a:br/>
            <a:r>
              <a:t>0 C/H OWASP Top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430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Dependency</a:t>
            </a:r>
            <a:br/>
            <a:r>
              <a:t>0 Critical + SBOM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License</a:t>
            </a:r>
            <a:br/>
            <a:r>
              <a:t>No GPL/AGPL/SSPL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Policy</a:t>
            </a:r>
            <a:br/>
            <a:r>
              <a:t>100% policy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342900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Infra</a:t>
            </a:r>
            <a:br/>
            <a:r>
              <a:t>No privileged +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BF1F8"/>
                </a:solidFill>
              </a:defRPr>
            </a:pPr>
            <a:r>
              <a:t>• Every gate records threshold, result, evidence, remediation, exception approver and expiry.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12. RBI / PCI-DSS / Segregation of Duties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13/20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29000" cy="109728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RBI</a:t>
            </a:r>
            <a:br/>
            <a:r>
              <a:t>Change • SoD • Vulnerability</a:t>
            </a:r>
            <a:br/>
            <a:r>
              <a:t>Encryption • Audit • 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43000"/>
            <a:ext cx="3429000" cy="109728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PCI DSS</a:t>
            </a:r>
            <a:br/>
            <a:r>
              <a:t>6.2–6.5 • 10.2 • 11.3 • 12.6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43000"/>
            <a:ext cx="3429000" cy="109728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SoD</a:t>
            </a:r>
            <a:br/>
            <a:r>
              <a:t>Dev ≠ Deploy</a:t>
            </a:r>
            <a:br/>
            <a:r>
              <a:t>RM + 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RBI assessment mapping: change management → tested change + approvals + rollback.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RBI assessment mapping: segregation of duties → separate development/deployment permissions.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RBI assessment mapping: vulnerability management → SAST + DAST + dependency scanning.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RBI assessment mapping: encryption → TLS/encryption policy gates.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RBI assessment mapping: audit trail → immutable pipeline/change records.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PCI-DSS assessment mapping: 6.2 software security; 6.3 vulnerabilities; 6.4 public-facing protection; 6.5 change management.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PCI-DSS assessment mapping: 10.2 audit logging; 11.3 penetration testing; 12.6 awareness.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Important: this is an assessment control mapping, not legal advice; final compliance interpretation belongs to Compliance/Legal.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13. Observability, SLOs &amp; 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14/20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0574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Prometheus</a:t>
            </a:r>
            <a:br/>
            <a:r>
              <a:t>Metrics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645920"/>
            <a:ext cx="22860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188720"/>
            <a:ext cx="20574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OpenTelemetry</a:t>
            </a:r>
            <a:br/>
            <a:r>
              <a:t>Traces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1645920"/>
            <a:ext cx="22860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188720"/>
            <a:ext cx="20574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Loki</a:t>
            </a:r>
            <a:br/>
            <a:r>
              <a:t>Logs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1645920"/>
            <a:ext cx="22860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188720"/>
            <a:ext cx="20574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Grafana</a:t>
            </a:r>
            <a:br/>
            <a:r>
              <a:t>Dashboards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0" y="1645920"/>
            <a:ext cx="228600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1188720"/>
            <a:ext cx="2057400" cy="91440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BF1F8"/>
                </a:solidFill>
              </a:defRPr>
            </a:pPr>
            <a:r>
              <a:t>Alertmanager</a:t>
            </a:r>
            <a:br/>
            <a:r>
              <a:t>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Category A rollback: 5xx &gt;5% for 60s, 3 consecutive health failures, OOM/CrashLoopBackOff, pool exhaustion.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Category B escalation: p99 &gt;2× baseline for 5 min, burn rate &gt;10× for 10 min, transaction success −2%, CPU &gt;90% or memory &gt;85% for 5 min.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Assessment DORA scorecard: deployment frequency, lead time, change failure rate, MTTR.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Current DORA research has evolved to five delivery metrics; retain the assessment's four for scoring and add rework rate operationally.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14. Automated Rollback &amp;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15/20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051560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3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69848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12% 500s • DB pool • 35%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T+30s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810512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SEV-1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Freeze promotion +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9463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T+1m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569463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87751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Route to stable color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8415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3328415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Communicate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46703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CTO/CISO/VP Eng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4087368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05655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SLO + payment synthetic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19"/>
            <a:ext cx="123444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T+10–15m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846319"/>
            <a:ext cx="1828800" cy="50292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1F8"/>
                </a:solidFill>
              </a:defRPr>
            </a:pPr>
            <a: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864607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1F8"/>
                </a:solidFill>
              </a:defRPr>
            </a:pPr>
            <a:r>
              <a:t>Evidence + bypass root 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BF1F8"/>
                </a:solidFill>
              </a:defRPr>
            </a:pPr>
            <a:r>
              <a:t>• All actions are timestamped; post-mortem captures impact, root cause, control gap and corrective actions.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15. Friday 5:07 PM Incident — Decision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T+0: 3 alerts fire during an 8-minute canary: HTTP 500 = 12%, DB pool exhaustion, payment gateway timeout = 35%.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T+30s: classify as SEV-1/critical; freeze canary promotion and page on-call/SRE.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T+1m: route traffic back to stable color; stop candidate exposure; protect payment processing.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T+2m: notify CTO/CISO/VP Eng; open incident channel and status communication.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T+5m: verify error rate, connection pool, payment success and synthetic transaction recovery.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T+10–15m: preserve logs/traces/artifact/gate evidence; identify bypassed staging as the control failure.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Preventive action: hotfix path must be expedited but cannot bypass security/compliance gates.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16. Risk Register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R1 Release introduces payment regression → canary + synthetic transactions + automatic rollback.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R2 Schema incompatibility → expand-contract + compatibility tests + pre-prod production-scale validation.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R3 Session loss → shared Redis cluster + session health monitoring.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R4 Supply-chain compromise → signed artifacts + immutable registry + admission policy.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R5 Compliance bypass → blocking gates + SoD + time-bound exception workflow.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R6 Observability blind spot → metrics/traces/logs + SLO alerting + dashboards.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R7 Capacity shortage during blue-green → reserve headroom and verify cluster capacity before promotion.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R8 Configuration drift → GitOps reconciliation + alerts + controlled manual changes.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17. Implementation Roadmap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18/20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Commit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56232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CI Run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0672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0984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Scans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35424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45736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F5B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Signed Artifact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6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0488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EE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Approval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24928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Argo CD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9992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Cluster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14432" y="1828800"/>
            <a:ext cx="210312" cy="0"/>
          </a:xfrm>
          <a:prstGeom prst="line">
            <a:avLst/>
          </a:prstGeom>
          <a:ln w="25400">
            <a:solidFill>
              <a:srgbClr val="3FA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24744" y="1417320"/>
            <a:ext cx="1234440" cy="822960"/>
          </a:xfrm>
          <a:prstGeom prst="roundRect">
            <a:avLst/>
          </a:prstGeom>
          <a:solidFill>
            <a:srgbClr val="142033"/>
          </a:solidFill>
          <a:ln>
            <a:solidFill>
              <a:srgbClr val="3F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BF1F8"/>
                </a:solidFill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346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0–15 days: architecture, pipeline stages, deployment strategy, gates, migration, promotion, rollback, runbook, observability and TRC package.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Days 16–30: platform bootstrap — Terraform, managed Kubernetes, registry, Argo CD, Istio, observability.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Days 31–60: application pipeline, security/compliance gates, artifact signing, Helm and promotion automation.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Days 61–75: blue-green/canary, DB migration rehearsal, load testing, incident simulation.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Days 76–90: production readiness, evidence collection, DR/rollback rehearsal, controlled production rollout.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Governance: Release Manager + SRE Lead approve production; Compliance/Security own gate policy; Dev owns code quality; SRE owns runtime reliability.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18. Evidence, Auditability &amp; TRC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Evidence package: pipeline runs, signed commits, SBOMs, scan reports, policy results, approvals, Argo CD sync history, deployment/rollback events and monitoring snapshots.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Traceability objective: every production change is attributable to a person, commit, artifact, approval and deployment event.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Operational deliverables: architecture, deployment strategies, compliance gates, DB migration, environment promotion, rollback specification, runbook/playbook and observability.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Repository evidence includes IaC (Terraform), Helm templates, Argo CD Applications, policies, dashboards and test results.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TRC decision requested: APPROVE architecture and controlled rollout, subject to environment-specific validation and formal compliance sign-off.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19. Q&amp;A — Defensible Answers for the TRC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20/20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960120"/>
          </a:xfrm>
          <a:prstGeom prst="roundRect">
            <a:avLst/>
          </a:prstGeom>
          <a:solidFill>
            <a:srgbClr val="12362F"/>
          </a:solidFill>
          <a:ln>
            <a:solidFill>
              <a:srgbClr val="3EC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BF1F8"/>
                </a:solidFill>
              </a:defRPr>
            </a:pPr>
            <a:r>
              <a:t>TRC DECISION: APPROVE CONTROLLED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Why Istio? → Separates traffic policy from workload scaling and supports weighted version routing.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Why same artifact? → Prevents environment drift and makes audit provenance deterministic.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Can an emergency hotfix bypass gates? → It can be expedited, but security/compliance gates remain mandatory.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How is zero downtime proven? → Readiness + synthetic transactions + SLO checks + connection/payment draining + traffic rollback.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What if the DB change fails? → Expand/migrate phases are reversible/idempotent; contract is isolated behind its own approval gate.</a:t>
            </a:r>
          </a:p>
          <a:p>
            <a:pPr>
              <a:spcAft>
                <a:spcPts val="800"/>
              </a:spcAft>
              <a:defRPr sz="1200">
                <a:solidFill>
                  <a:srgbClr val="EBF1F8"/>
                </a:solidFill>
              </a:defRPr>
            </a:pPr>
            <a:r>
              <a:t>• What proves compliance? → Machine-generated evidence tied to commit, artifact, policy result and approval.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F1F8"/>
                </a:solidFill>
              </a:defRPr>
            </a:pPr>
            <a:r>
              <a:t>20. Approval Request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4B2C5"/>
                </a:solidFill>
              </a:defRPr>
            </a:pPr>
            <a:r>
              <a:t>NovaPay Zero-Downtime CI/CD • TRC • 21/20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TRC approval requested for the target architecture and phased implementation.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Assessment anchors: NovaPay scenario, 8-stage pipeline, blue-green/canary, expand-contract DB migration, 6+ compliance gates, DORA scorecard, incident simulation and 20-slide TRC requirement.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Primary technical references: RBI Master Direction on IT Governance; PCI DSS v4.x; DORA software delivery metrics; Argo CD documentation; Istio traffic management.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Note: regulatory mappings in this presentation reproduce the project's assessment framework and should be validated by NovaPay Compliance/Legal before real-world use.</a:t>
            </a:r>
          </a:p>
          <a:p>
            <a:pPr>
              <a:spcAft>
                <a:spcPts val="800"/>
              </a:spcAft>
              <a:defRPr sz="1300">
                <a:solidFill>
                  <a:srgbClr val="EBF1F8"/>
                </a:solidFill>
              </a:defRPr>
            </a:pPr>
            <a:r>
              <a:t>• End state: Deploy Fast. Stay Compliant. Never Go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